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154219efe54086" /><Relationship Type="http://schemas.openxmlformats.org/officeDocument/2006/relationships/extended-properties" Target="/docProps/app.xml" Id="R2b31559eeee7404f" /><Relationship Type="http://schemas.openxmlformats.org/officeDocument/2006/relationships/officeDocument" Target="/ppt/presentation.xml" Id="R6f0a86834ec644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f084ed08c422c"/>
  </p:sldMasterIdLst>
  <p:notesMasterIdLst>
    <p:notesMasterId xmlns:r="http://schemas.openxmlformats.org/officeDocument/2006/relationships" r:id="R8d3119fd24f445ea"/>
  </p:notesMasterIdLst>
  <p:sldIdLst>
    <p:sldId xmlns:r="http://schemas.openxmlformats.org/officeDocument/2006/relationships" id="256" r:id="Re2952564c33246ad"/>
    <p:sldId xmlns:r="http://schemas.openxmlformats.org/officeDocument/2006/relationships" id="257" r:id="Rbc000e764dad4e66"/>
    <p:sldId xmlns:r="http://schemas.openxmlformats.org/officeDocument/2006/relationships" id="258" r:id="R05e45b552d5e4b67"/>
    <p:sldId xmlns:r="http://schemas.openxmlformats.org/officeDocument/2006/relationships" id="259" r:id="R845267fd46ab4bb5"/>
    <p:sldId xmlns:r="http://schemas.openxmlformats.org/officeDocument/2006/relationships" id="260" r:id="R2f5ca64c52ae449a"/>
    <p:sldId xmlns:r="http://schemas.openxmlformats.org/officeDocument/2006/relationships" id="261" r:id="Rfe645a7d6d85493e"/>
    <p:sldId xmlns:r="http://schemas.openxmlformats.org/officeDocument/2006/relationships" id="262" r:id="Re95c9d0f059f4896"/>
    <p:sldId xmlns:r="http://schemas.openxmlformats.org/officeDocument/2006/relationships" id="263" r:id="R9fc7df8b0b534c12"/>
    <p:sldId xmlns:r="http://schemas.openxmlformats.org/officeDocument/2006/relationships" id="264" r:id="R09283016333f4f2c"/>
    <p:sldId xmlns:r="http://schemas.openxmlformats.org/officeDocument/2006/relationships" id="265" r:id="R03a1115d967d40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604e702ff4143" /><Relationship Type="http://schemas.openxmlformats.org/officeDocument/2006/relationships/slideMaster" Target="/ppt/slideMasters/slideMaster1.xml" Id="R797f084ed08c422c" /><Relationship Type="http://schemas.openxmlformats.org/officeDocument/2006/relationships/notesMaster" Target="/ppt/notesMasters/notesMaster1.xml" Id="R8d3119fd24f445ea" /><Relationship Type="http://schemas.openxmlformats.org/officeDocument/2006/relationships/presProps" Target="/ppt/presProps.xml" Id="Ra4b9006c5a734e15" /><Relationship Type="http://schemas.openxmlformats.org/officeDocument/2006/relationships/tableStyles" Target="/ppt/tableStyles.xml" Id="R71dd7e4410774992" /><Relationship Type="http://schemas.openxmlformats.org/officeDocument/2006/relationships/slide" Target="/ppt/slides/slide1.xml" Id="Re2952564c33246ad" /><Relationship Type="http://schemas.openxmlformats.org/officeDocument/2006/relationships/slide" Target="/ppt/slides/slide2.xml" Id="Rbc000e764dad4e66" /><Relationship Type="http://schemas.openxmlformats.org/officeDocument/2006/relationships/slide" Target="/ppt/slides/slide3.xml" Id="R05e45b552d5e4b67" /><Relationship Type="http://schemas.openxmlformats.org/officeDocument/2006/relationships/slide" Target="/ppt/slides/slide4.xml" Id="R845267fd46ab4bb5" /><Relationship Type="http://schemas.openxmlformats.org/officeDocument/2006/relationships/slide" Target="/ppt/slides/slide5.xml" Id="R2f5ca64c52ae449a" /><Relationship Type="http://schemas.openxmlformats.org/officeDocument/2006/relationships/slide" Target="/ppt/slides/slide6.xml" Id="Rfe645a7d6d85493e" /><Relationship Type="http://schemas.openxmlformats.org/officeDocument/2006/relationships/slide" Target="/ppt/slides/slide7.xml" Id="Re95c9d0f059f4896" /><Relationship Type="http://schemas.openxmlformats.org/officeDocument/2006/relationships/slide" Target="/ppt/slides/slide8.xml" Id="R9fc7df8b0b534c12" /><Relationship Type="http://schemas.openxmlformats.org/officeDocument/2006/relationships/slide" Target="/ppt/slides/slide9.xml" Id="R09283016333f4f2c" /><Relationship Type="http://schemas.openxmlformats.org/officeDocument/2006/relationships/slide" Target="/ppt/slides/slide10.xml" Id="R03a1115d967d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94df5429c48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e724fd2d1f40b6" /><Relationship Type="http://schemas.openxmlformats.org/officeDocument/2006/relationships/notesMaster" Target="/ppt/notesMasters/notesMaster1.xml" Id="R7484e6de3d5140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17b82929943cb" /><Relationship Type="http://schemas.openxmlformats.org/officeDocument/2006/relationships/notesMaster" Target="/ppt/notesMasters/notesMaster1.xml" Id="R9f12ebf15f9947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dfff3f0d84973" /><Relationship Type="http://schemas.openxmlformats.org/officeDocument/2006/relationships/notesMaster" Target="/ppt/notesMasters/notesMaster1.xml" Id="R8a5a9f6445f742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7b5f177b714fd6" /><Relationship Type="http://schemas.openxmlformats.org/officeDocument/2006/relationships/notesMaster" Target="/ppt/notesMasters/notesMaster1.xml" Id="R828afce7ae47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325383b54841b0" /><Relationship Type="http://schemas.openxmlformats.org/officeDocument/2006/relationships/notesMaster" Target="/ppt/notesMasters/notesMaster1.xml" Id="Rabff4783428f41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59101d294e4dd7" /><Relationship Type="http://schemas.openxmlformats.org/officeDocument/2006/relationships/notesMaster" Target="/ppt/notesMasters/notesMaster1.xml" Id="R6ca214710223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d865ef1486450a" /><Relationship Type="http://schemas.openxmlformats.org/officeDocument/2006/relationships/notesMaster" Target="/ppt/notesMasters/notesMaster1.xml" Id="Ra17eaaaf639546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bd9a757a59478e" /><Relationship Type="http://schemas.openxmlformats.org/officeDocument/2006/relationships/notesMaster" Target="/ppt/notesMasters/notesMaster1.xml" Id="R247037cce4b3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33f19484342bc" /><Relationship Type="http://schemas.openxmlformats.org/officeDocument/2006/relationships/notesMaster" Target="/ppt/notesMasters/notesMaster1.xml" Id="R990835b3c37740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40b9fd5bf4642" /><Relationship Type="http://schemas.openxmlformats.org/officeDocument/2006/relationships/notesMaster" Target="/ppt/notesMasters/notesMaster1.xml" Id="R3e80d9f1a1a74b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6cc9e0835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c4331354c04463" /><Relationship Type="http://schemas.openxmlformats.org/officeDocument/2006/relationships/slideLayout" Target="/ppt/slideLayouts/slideLayout1.xml" Id="R2a096697d5c7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096697d5c7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daa9115eb4ee6" /><Relationship Type="http://schemas.openxmlformats.org/officeDocument/2006/relationships/notesSlide" Target="/ppt/notesSlides/notesSlide1.xml" Id="Raa4b14930e3c4c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f909f9ac4223" /><Relationship Type="http://schemas.openxmlformats.org/officeDocument/2006/relationships/notesSlide" Target="/ppt/notesSlides/notesSlide2.xml" Id="R3c42421fbbee4d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07305b5074fe3" /><Relationship Type="http://schemas.openxmlformats.org/officeDocument/2006/relationships/notesSlide" Target="/ppt/notesSlides/notesSlide3.xml" Id="R6020cee8c4574f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f83d7def34b65" /><Relationship Type="http://schemas.openxmlformats.org/officeDocument/2006/relationships/notesSlide" Target="/ppt/notesSlides/notesSlide4.xml" Id="R675386fa9916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60eebf20349e2" /><Relationship Type="http://schemas.openxmlformats.org/officeDocument/2006/relationships/notesSlide" Target="/ppt/notesSlides/notesSlide5.xml" Id="R6d3eee0de5eb49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30df2ba3645d5" /><Relationship Type="http://schemas.openxmlformats.org/officeDocument/2006/relationships/notesSlide" Target="/ppt/notesSlides/notesSlide6.xml" Id="Rd764f5941be1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61a5e93c415a" /><Relationship Type="http://schemas.openxmlformats.org/officeDocument/2006/relationships/image" Target="/ppt/media/image.png" Id="Re516b113ef2846c6" /><Relationship Type="http://schemas.openxmlformats.org/officeDocument/2006/relationships/image" Target="/ppt/media/image2.png" Id="R2ae00aacdef54794" /><Relationship Type="http://schemas.openxmlformats.org/officeDocument/2006/relationships/notesSlide" Target="/ppt/notesSlides/notesSlide7.xml" Id="R69d8e02ab188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7497c2dbb4ef1" /><Relationship Type="http://schemas.openxmlformats.org/officeDocument/2006/relationships/chart" Target="/ppt/slides/charts/chart1.xml" Id="Ra3da1c678f804981" /><Relationship Type="http://schemas.openxmlformats.org/officeDocument/2006/relationships/notesSlide" Target="/ppt/notesSlides/notesSlide8.xml" Id="R27a31a5569bd49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bbce3051746b1" /><Relationship Type="http://schemas.openxmlformats.org/officeDocument/2006/relationships/notesSlide" Target="/ppt/notesSlides/notesSlide9.xml" Id="R022362b66c1d41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c3555814b40fc" /><Relationship Type="http://schemas.openxmlformats.org/officeDocument/2006/relationships/notesSlide" Target="/ppt/notesSlides/notesSlide10.xml" Id="R0c3df31f32b94bb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8D7E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Recall</c:v>
              </c:pt>
              <c:pt idx="1">
                <c:v>F1</c:v>
              </c:pt>
              <c:pt idx="2">
                <c:v>Precision</c:v>
              </c:pt>
            </c:strLit>
          </c:cat>
          <c:val>
            <c:numLit>
              <c:formatCode>General</c:formatCode>
              <c:ptCount val="3"/>
              <c:pt idx="0">
                <c:v>1</c:v>
              </c:pt>
              <c:pt idx="1">
                <c:v>0.7692</c:v>
              </c:pt>
              <c:pt idx="2">
                <c:v>0.625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EAF3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45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29445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DA6B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45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AF3F8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10243A"/>
        </a:solidFill>
        <a:ln xmlns:a="http://schemas.openxmlformats.org/drawingml/2006/main" w="0">
          <a:solidFill>
            <a:srgbClr val="10243A"/>
          </a:solidFill>
          <a:prstDash val="solid"/>
        </a:ln>
      </c:spPr>
    </c:plotArea>
    <c:plotVisOnly val="1"/>
  </c:chart>
  <c:spPr>
    <a:solidFill xmlns:a="http://schemas.openxmlformats.org/drawingml/2006/main">
      <a:srgbClr val="10243A"/>
    </a:solidFill>
    <a:ln xmlns:a="http://schemas.openxmlformats.org/drawingml/2006/main" w="0">
      <a:solidFill>
        <a:srgbClr val="10243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41B1C-DC2A-4A3E-956B-69F039D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D1F52-B30F-43EB-86A1-D944082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NETRA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18C7B-BCE0-43C6-B51A-55DE945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Evidence-first</a:t>
            </a:r>
          </a:p>
          <a:p xmlns:a="http://schemas.openxmlformats.org/drawingml/2006/main">
            <a:pPr algn="l">
              <a:defRPr sz="45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network forensics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13BD8-DA5C-4E1A-A88C-9D9BAA1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604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From authorized packet capture to reviewable findings, reports, exports, integrity state, and custody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CD620-78F0-4CFD-A1F2-1AF5AE66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09B4B-C465-41B6-BB22-D521A64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HACKATHON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3DED2-5505-4E02-B2BA-D79AD63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529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77E9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1808-DB32-482E-B5CB-766EFCC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91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7E9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E9F1"/>
                </a:solidFill>
                <a:latin typeface="Aptos"/>
                <a:ea typeface="Aptos"/>
                <a:cs typeface="Aptos"/>
              </a:rPr>
              <a:t>ENGINEERING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75EC-5393-486A-8ED4-CABC931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76300"/>
            <a:ext cx="2990850" cy="44767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478F3-BA21-4284-B458-04F0C4E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81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TRACEABILITY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B0161-594A-478E-9434-3B5B1E80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8D7E5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4270A-7A58-4F5E-9A37-DC29487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CASE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DD07F-77B9-42BA-AEF4-65F1D6DE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C4138-DFAC-4DAC-AE44-2565F85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955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EVIDENCE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EA2AA-9AD0-4690-8943-E3BB7786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A316F-B7F0-4000-BD1D-6A5B5D37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PACKET + SESSION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91072-A850-4B9B-8DA6-D0C6867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86125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7288E-53D5-4871-A2BF-86FE64CD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EXPLAINABLE FINDINGS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7D60E-49D2-499A-B584-97CC785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480E6-63AE-4DA6-97D9-B8A5F7C3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REPORT + 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E9DFA-F9B6-4D27-917F-B9D7235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71975"/>
            <a:ext cx="2324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21114-68EC-4AE9-8E28-0B7C7F0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672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CUSTODY 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9974B-08FF-4D09-9131-1859AF59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Solution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2DD21-CB33-4D64-B0FC-48CC6BD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18 JUN 2026</a:t>
            </a:r>
          </a:p>
        </p:txBody>
      </p:sp>
    </p:spTree>
    <p:extLst>
      <p:ext uri="{BB962C8B-B14F-4D97-AF65-F5344CB8AC3E}">
        <p14:creationId xmlns:p14="http://schemas.microsoft.com/office/powerpoint/2010/main" val="2087084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820E1-67B6-4F4E-A678-6A6E441E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THE INVESTIGATION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AC85B-5C60-47B4-BA52-15E82A8F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The tools are capable. The case continuity is fragmented.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3CE3-F58F-4BF8-B0C5-49256F7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928B9-1F96-4AE8-BAF1-22A407B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68052-74DC-442A-B502-27290CA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57450" cy="2781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7C0BB-26F7-4AC7-8448-7E3487B9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D561-7F29-46F3-9163-AF6A0382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Specialized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9771F-E825-4133-B7C6-EC689A25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BACE8-E3D2-4455-9687-6E7144A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Packets, logs, alerts, notes, and screenshots use different identifiers and schemas.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E14BF-E938-48BD-A1D4-698CF59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457450" cy="2781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B1102-F2D0-4906-9DE5-BB7755E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A2D4E-B13A-4610-AC84-34208FB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Manual correlation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28951-A7F5-4EB6-BF72-9474349D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FE536-2374-4C6C-9D10-C129772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Evidence context can detach during transfer, reporting, and reviewer handoff.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EC3A4-70AF-449D-ABC5-012BCCC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2457450" cy="2781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7AC4E-5EE1-43AE-B7D8-64FC87B3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6B821-BA10-48AB-BBDE-1C889A93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Opaque 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45E1B-46CF-4C41-A9FF-D68C407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F5D42-21CF-4B30-A062-82059F74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A label or score without trigger context is weak forensic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F56C8-B416-46FC-B065-FDE79B3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457450" cy="2781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02F2B-B9E1-41F7-B681-F5616F0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05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789AE-D3C6-4966-AC3D-8AA9FE9B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Separate trust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638678-A8DE-4A03-93DF-495DB4E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95CB6-5BF8-47E5-AF82-EC8E4609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Hashes, access history, artifacts, and custody notes often live outside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94F67-0AF3-40EB-84E8-F38EC1C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E1193-E246-4F70-9D4F-5E9090DC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CORE 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D00C7-2835-41BB-AF7D-AF9A5618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How can an investigator move from stored network evidence to a traceable, explainable, reviewable case package?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68428-7F23-4A1C-B656-2DD69E15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D3B51-F6A0-4309-AEAD-9805F171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§§1 and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B6712-E458-43AE-AE2A-EB54E1F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1334726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CA086-DE98-410F-B318-0DFDE94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79380-075F-4F67-BC83-9BD3406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One controlled workflow keeps evidence identity attached to every conclusion.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45C67-94F6-4A88-9F26-25D75C4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6A11F-93BD-47B4-9687-43CC102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174E6-98FF-4392-853F-69BF2C0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BC5DF-2218-4F88-8718-D9BADC3B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99750-6B4C-4890-A93B-4846287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42BD9-DBEF-4C22-9138-42DF5F5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B38B9-0723-4D44-B967-9731008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PCAP / PCAPNG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6391B-0530-4E87-B956-58374D4E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5430D-826F-46F3-9661-E337523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28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AD6D9-2797-4BED-BC92-F32CB6E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84344-ACB6-4296-B97D-8339EE93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E9E05-736D-40D3-AA2C-25D8268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760D3-E86C-4983-94A8-0A9F445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10661-4F89-4BC4-BAB3-F4592C4A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type • size • header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C47E5-A1BB-4B17-8106-2FBCA26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76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44B38-05FD-41E4-BBB3-2F3EE227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28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7F29E-89BB-4C1F-B248-33F985C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4671F-4FF8-492E-BA39-EFBF976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B8D8A-7DDB-48F9-8945-E6353DFB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D3CE4-F4EE-4B45-B7F2-7C57A96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C3B3A-3782-4CB2-BFD2-D9673629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TShark • Zeek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27956-F0AD-4AD5-8224-3BB6AA54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C242E-EF61-403C-A523-398D2C6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28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E82DE-BEB5-4C6B-9FC3-5A6C7F4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50383-230A-475A-8C09-0F3BD77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9851B-185A-4E07-996A-819F290B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6C85D-18F3-44A3-91D2-FDA7D784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F6751-ECDB-4D47-958C-D56855F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rules • anomaly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C838C5-BFCC-471C-9B17-B90AC7DF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8DBA9-E4C7-490D-B377-1CCD676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157FE-C0D9-4605-8129-0E61358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B73B94-9E75-4DDF-A32F-7883A08E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3F2831-F9A6-4E44-93CF-7B2164BB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7355F2-E471-4443-B319-FEBDDFC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2B92F-F1E0-400A-BAFF-BFF29A87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human disposition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E6B428-4D6A-4E31-A728-E8885602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E7CF38-BD35-4556-8C15-56E3F1D7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258F4-3B2F-482C-ABFF-360D253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562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542DA7-F9D3-440E-A964-C47BAC9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9A4A41-2952-4839-BA2D-87F0FF55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431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A50D2B-148C-442A-AC10-711EDFE6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8C3547-8B62-440E-844D-574FFFE0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report • export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714841-8D24-44A5-86EA-63A9817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099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5B7E33-4411-491B-A8AA-83CA7F8B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Evidence continuity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C237CD-AB9A-4D93-B040-9219CAD3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708C68-CD4C-4A78-A0AC-79E0B512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Case, evidence, session, finding, artifact, and custody records remain linked.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D3F1D0-C317-4031-817D-9AC56E4A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34099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012FC2-D811-4B9A-BA11-B38BC558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Tool orchestration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4FBF66-7767-4486-AA24-D622014D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4429E8-16CC-4D1A-ACF8-EF93166D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Established engines are invoked inside a trusted processing boundary.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C13C2D-AAFF-4C23-9B55-A8F6A0F6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34099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07BF51-9FF9-4A7F-98D2-70892AC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Reviewable outputs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28B651-2B03-4F80-9259-D9BF80B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C5FF9C-0A14-4AB9-B9EC-C21257F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Rules and feature context support human judgment rather than replace 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7C3BAD-208C-4104-B869-24F6309A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F6445A-85AE-4E6C-A9BE-D488CFFE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§§5-6 | CLM-001 to CLM-006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0BC584-315A-43F9-A56F-AE98C31E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2121141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87692D-867F-401F-AD23-1B6CCE84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8F92-E3F7-435E-9E95-CF5DBDD9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A trusted backend separates the browser from raw evidence and privileged storage.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63E53-8C95-4C49-A8D5-01D5738C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8B9F2-FD0A-4FB6-84A3-E1018E4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9903C-8095-4632-8105-4A51848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133600" cy="39052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1CC02-F940-4333-8505-5D18E35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INVESTIGATOR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5D5A5-2E4F-4018-814D-C16851F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52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1BC9-3FFB-4412-A6E7-F50230F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React + TypeScript 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14057-A83D-4309-9490-2F58BA28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752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2AA6D-D081-418B-857C-F87CC56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Case views • timeline •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F14AD-7DC8-4800-AD34-3877F22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752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87ADA-F067-4153-9480-E9157D26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User identity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8E38C-9D9F-4183-AF4B-C8041C5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76400"/>
            <a:ext cx="3048000" cy="3905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BAC28-BC7C-4E66-A422-D83A115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05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TRUSTED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BA9FD-5DF4-4D3D-B863-3D11A1A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A0E42-7DEB-4B7E-9781-965346F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Django API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62002-322E-420E-A7CA-F76B17C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8610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8C88F-341D-4BA2-8149-B18537A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Validation + temporary plaintext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22A7D-CB63-4551-A15D-201C6FE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95D46-8F1A-4EE2-BDD2-3F7F55C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Analysis 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3E1CF-9405-4B6C-BAE5-5F5CDFFB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4340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9B098-CCEB-4978-8043-4E22C3D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Artifact generation + downloads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94D66-E497-466A-A121-44E80C1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2228850" cy="3905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49EFD-F14D-4659-BACB-1A835219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ANALYSIS ENGINES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51EE29-16B3-447B-A173-895C5F96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847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8CFC5-624E-4F34-A589-EC4A2D2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TShark dissection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211748-1127-4776-BEB5-F0F4CD3B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1847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2FFC7-67B5-44C1-8E36-B92D387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194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Zeek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22A8D-606D-4233-AF76-2457AEE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1847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C1FFF-C4A5-4669-99A8-A358BEFE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Deterministic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DDB1D-F6C0-4FB0-9880-F2166D6E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1847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AF72E-8F30-477A-B22C-8EC534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Random Forest prototype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6C106C-57D0-4366-96E6-CF7D613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76400"/>
            <a:ext cx="2667000" cy="39052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EDFC79-C705-464F-A0F4-FAEBDB0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05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MANAGED DATA PLANE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42892-BC53-4011-B338-FC746202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ED64CF-D35C-4259-98FB-22ABB66C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PostgreSQL case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CE4C5E-1639-40AC-A184-FEFBF072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9DAC36-5006-4828-BAEB-241536B9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Private encrypted objects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84DC0-39B6-4E73-AFEA-52202BFB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9394E5-208F-41E1-800C-2083A6E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481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PGMQ worker coordination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BF89EB-8380-4E82-92C9-9DF8E44D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434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2FB3E3-9DA8-41C2-A71F-31B0F6DA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Realtime events + polling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9D93D7-3EF4-4E9F-AF7E-3441B7D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35AB59-D3DF-4248-8C49-7D231DE4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793708-EA20-4999-9355-F5E7C056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82000D-5882-4DBA-A144-6CCAC68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77435F-9E27-46F5-A2D6-C4825DD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97B071-59BC-471E-8721-896853C8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813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53FF8A-9789-4A65-B6F1-F824B84E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C3BB8E-0ED5-4D44-846A-C288491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§8 | CLM-013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51F471-305D-4FC3-8FC7-767D8FA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736958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A9520-594F-450D-9574-F109041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EVIDENCE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DB6F6-900E-4E91-9765-EBB22C6A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Every transformation remains attributable to the original capture.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681CF-CC6D-40EE-9A98-3686A640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4552A-111F-4802-806E-167A612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D1646-1C18-4BA2-8E44-C4F46D6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BA8D2-2512-4539-AF0D-6A4EEAEC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EAD3D-F799-4155-8A24-0BE1B56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413B3-154D-49BD-98EA-AD0D067F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37C31-AB44-4464-877D-0B11AD3D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Extension, structure, size policy, case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4598-DE87-4CFF-B436-2732D5D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C78D0-563C-42F8-9A8C-0E50D25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3CAED-2342-47D6-A9B3-A9023B5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716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67563-E038-4308-94BD-6EA4B6B4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5D8E4-4641-4F33-9BFC-DF68E92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Plaintext SHA-256 establishes evidence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2BBCA-A1FA-4816-81DB-503C957C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68FD8-83B0-4A0B-86DF-1035D19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CE960-6D97-4E65-852F-B407D8CD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7ABB7-0C1C-4D08-BDB1-2172CF3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05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CA5AE-DE0E-4129-BB84-B002601E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Encrypt artifact; store privately with manifest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6895D-4D0C-4C88-B2DD-E3BBE3F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40042-7426-4756-B674-E6495E9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21688-F3F6-498D-A37B-A5429880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43779-1787-4AEE-AFB9-2CCF9477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C3F17-ABDF-4B3D-B649-4190322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Limit temporary plaintext; invoke native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78AB9-08F6-410F-BF0E-E7EDFEA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1E3E7-238F-4CA1-BB02-F2382E0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5360D-FFE4-4B73-83ED-C83C65A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00349-F6C3-4FA5-87A6-EC6CEEA4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DERIVE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E42CC-DD36-45D8-9F63-410512B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577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Persist packets, sessions, alerts, graph, timeline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1AB6C-AC56-416D-817F-738FCBDD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57600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7F468-989E-420E-AE8F-DD2FDAB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AE8C2-2A4B-4DC8-BB02-C1E5175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69F18-307A-469B-8081-D9DAE66F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E2AE62-72E2-4F83-9555-8279235D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Recalculate hashes; validate custody continuity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33E6B-44A7-44E1-8A70-83CA1DF0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06373E-7696-480A-B4E4-02656B3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7E9F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7E9F1"/>
                </a:solidFill>
                <a:latin typeface="Aptos"/>
                <a:ea typeface="Aptos"/>
                <a:cs typeface="Aptos"/>
              </a:rPr>
              <a:t>Invariant: case ID + evidence ID + method + timestamp context travel with every derived record.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521CCA-D53D-4AF1-8BA6-0C60B830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424079-9C3C-41C0-90B7-A71853D0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§9 | CLM-003, CLM-006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CAE94A-630E-40E1-BDB7-4E79EC2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1699201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C9593-17BC-465F-91FC-614D8C8B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DETECTION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F41EA-B77B-4770-9530-1E8BEF8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Hybrid detection prioritizes explainability and human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C8ED6-583D-427C-B0EF-C16FE0A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D4F52-67E3-426F-AE14-75D8EF3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F1716-20DF-4BA5-AB06-AAB092FB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4038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3967F-15FF-461D-AF92-C5FB3CB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6B8AA-FFC2-49CC-B1A0-E0B2FAC4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Behavior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22D2D-4DCA-418B-9F02-839E95A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686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B47D9-0CD8-4D54-9F8E-3E97ACC5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Scanning + brute 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BEBB2-A5E0-4C29-8382-A3BFA6A6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686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AC8E5-5520-4085-AFDE-EDC61EE4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Beaconing + tunneling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1F5A2-0B6E-40AB-BB07-7A9D481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686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DFA6F-9603-43D3-B8FD-FEB79A5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Remote execution hints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DB4DC-E9F4-46EF-9D69-450DE03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686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6E725-A59F-4308-80E3-6BD829B9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Exfiltration hypotheses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B3A44-AC5C-4447-A16F-057DE68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3143250" cy="4038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CE62E-142C-4F57-873D-2DCA354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PROBABILISTIC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79577-F677-4DD3-A226-76FF5433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Anomaly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FFEC6-8991-4CAC-8F96-2EEF013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2816A-BB9A-41AB-A3FB-7DB67934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457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Explainable feature scoring is implemented, but the artifact has only six training rows.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25D48-BA19-4855-9471-686AC3D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33950"/>
            <a:ext cx="1447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6600B-E89F-4193-9C41-E6FB83FA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20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PROTOTYPE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72368-FF82-4B88-9042-9DC1CB6E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76400"/>
            <a:ext cx="4000500" cy="40386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FDE38-3BB7-4EFD-A727-BD9BCA3A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HUMAN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40068-36BE-4273-A1EB-2DFAA91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335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Findings are hypotheses,</a:t>
            </a:r>
          </a:p>
          <a:p xmlns:a="http://schemas.openxmlformats.org/drawingml/2006/main">
            <a:pPr algn="l">
              <a:defRPr sz="21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not proof of compromise.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D0456-80C6-4381-A87D-91309C4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9CE19-A77D-47CD-8AD0-9D3F1A5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AA9F2-696C-4078-A186-0E4D48A1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Why the behavior matched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658AF-18BF-4313-83CA-C1C62F8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814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19401-48F2-4165-9CF2-A777B30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F2E28-825A-4600-84FE-8F40B9C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Packets, sessions, features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B09BA-5DD3-4DF2-82D8-B768F6AC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D92D4-2B54-453A-B101-1B56024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Disposition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9646C-5F7F-470A-86EE-5894D39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Confirm • dismiss • investigate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6178AC-191C-4093-ADE1-8A27EA92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32B35-E2B9-4DF1-A194-AD5B81F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§10 | CLM-007 to CLM-009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F4D56-7772-4FD3-B377-1BF5BB8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1023193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F6C55-D749-4EAE-AE59-F5EAAC1D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INVESTIGATOR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706B2-B2D5-4E10-93F6-EA5A9A9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The interface organizes analysis around a case, not around disconnected tool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5B502-7517-489B-A947-1C4F5198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972A-15F7-4069-A0C7-7F142C0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FF88E-E4EF-4B44-BC40-B47996A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7818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6b113ef2846c6"/>
          <a:srcRect xmlns:a="http://schemas.openxmlformats.org/drawingml/2006/main" l="0" t="3882" r="0" b="3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809750"/>
            <a:ext cx="6477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B5F0-93C6-4C4F-A8AC-2081517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7719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00aacdef54794"/>
          <a:srcRect xmlns:a="http://schemas.openxmlformats.org/drawingml/2006/main" l="0" t="14783" r="0" b="1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1790700"/>
            <a:ext cx="3505200" cy="15430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96CF5-0FA3-4335-ADFE-5437871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37719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A3A93-C0B9-454A-9274-BF7D044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CASE-CENTERED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19714-848F-49DC-9460-ADB321E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815FD-A60A-4E53-B610-BE147CCB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Evidence and traffic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273BE-6450-4312-B959-26F1EB2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D07F0-8C27-42E4-8FE2-781BE86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Suspicious activity + disposition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08B40-C202-460C-B459-A75C3172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CC946-A2A0-48A3-9CFD-6A2488F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Graph, timeline, report,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547F7-8C4B-453A-BD7C-9471874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73FBF-DA40-468A-91AA-FA8600B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Integrity state + custody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3422D-463F-4BBE-8943-CBD23A9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673AE-91C1-41A0-968F-0270CEC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Assets: repository-provided NETRA screenshots | Source: Solution Document, §6.4 and §13.3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A3367-78AC-4CDA-8E9E-638C00E2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1995599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533E3-46DB-450F-BE22-2AA4455E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EVALUATION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60F4-BA0D-42C1-B742-5DCF815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The prototype shows signal, while the evidence base remains intentionally bounded.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5675B-FB55-4678-A18D-D406BAF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64A85-FB67-418A-B9DE-F786C275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97D8C-74EA-4B73-A1CA-B1760F98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200EB-F43B-4B9B-A3BD-F6C4ADF0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SIX-CASE LOCAL DETECTION BENCHMARK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876300" y="2343150"/>
          <a:ext xmlns:a="http://schemas.openxmlformats.org/drawingml/2006/main" cx="59055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da1c678f80498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9616-055F-46AD-8FE5-9875E00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5 expected attack cases detected • 3 false positives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A4FF4-DCBD-423A-8737-29061E78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8478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29652-B57A-48CE-823E-8D6C4485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MODEL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E10B0-C460-4458-8933-7E7C69AE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D378-57D5-413C-B532-3CBF38D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Demonstrates the path, not generalizable 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DEFBB-2AFA-48C0-8672-F81BF39D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76400"/>
            <a:ext cx="18478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74629-34ED-49D3-BA54-2D1636D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478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717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07178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96975-6272-4BB1-A921-819F04A9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336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GATED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6AF1A-C300-45B5-8535-ADEEF2A7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Production release remains blocked.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9FEE5-FF85-4B7C-8A6B-2C1B01E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9814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F8CDF-0C8C-4ECB-8AA8-E9793FA0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WHAT THE EVIDENCE SUPPORTS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63184-AA64-4EDA-BAFC-6350F3C5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✓ Stored PCAP/PCAPNG workflow</a:t>
            </a:r>
          </a:p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✓ Case-scoped analysis and exports</a:t>
            </a:r>
          </a:p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✓ Integrity + custody engineering checks</a:t>
            </a:r>
          </a:p>
          <a:p xmlns:a="http://schemas.openxmlformats.org/drawingml/2006/main">
            <a:pPr algn="l">
              <a:defRPr sz="1200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× Field accuracy, scale, or legal certification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EE8C4-7028-40A5-B9B2-7345910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BD285-B7A2-480D-A055-C13D7E3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Sources: phase6 benchmark 2026-06-16; claims CLM-007, CLM-008, CLM-012, CLM-014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1130E-4B75-4428-86E6-A02F248B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709217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47BDC-64DB-478C-AB44-D9EF39C0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9C7B5-021E-4260-9681-1B301DA3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Technical integrity is engineered; operational and legal authority remain external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BBC35-E57E-4192-904E-4EE22AE0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B1F07-BD91-4DE2-A15C-383E2E86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E1296-BFFD-43D4-AD67-B39D629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EB45E-CB25-4E1F-B4E5-AB5A09BE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01 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6F40E-34E0-43A6-8C8F-D2E3F40F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807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SHA-256 establishes the original evidence identity.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674C-2C24-4596-9574-7D7F01EF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009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77E9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2CE53-1D5C-42ED-8647-A235ED5A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E9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E9F1"/>
                </a:solidFill>
                <a:latin typeface="Aptos"/>
                <a:ea typeface="Aptos"/>
                <a:cs typeface="Aptos"/>
              </a:rPr>
              <a:t>02  PROTECTION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7982-7ECF-4473-B0EB-BD3C5A34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735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Encrypted private storage, manifests, controlled temporary plaintext.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75CF7-6A3B-4DBC-A5C6-57334321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372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00F55-52E8-46AB-9895-23FFDEE0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03  CONTINUITY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4D31C-3A56-448F-9823-004AA3EB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528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8"/>
                </a:solidFill>
                <a:latin typeface="Aptos"/>
                <a:ea typeface="Aptos"/>
                <a:cs typeface="Aptos"/>
              </a:rPr>
              <a:t>Hash-linked custody events and artifact verification preserve traceability.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9791E-2E73-46D6-841A-E8FAC0F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95800"/>
            <a:ext cx="8648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071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E941B-6B23-4057-9160-E90ACAA3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71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7178"/>
                </a:solidFill>
                <a:latin typeface="Aptos"/>
                <a:ea typeface="Aptos"/>
                <a:cs typeface="Aptos"/>
              </a:rPr>
              <a:t>04 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202ED-862B-4361-BFAB-6123586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67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Procedure, examiner testimony, jurisdiction, and legal review determine admissibility.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20EEE-6F06-4B7E-9F11-9592984A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AC8B5-3105-415E-936E-32A4F85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3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3F8"/>
                </a:solidFill>
                <a:latin typeface="Aptos"/>
                <a:ea typeface="Aptos"/>
                <a:cs typeface="Aptos"/>
              </a:rPr>
              <a:t>Boundary: NETRA can produce technical evidence suitable for review; it does not certify court admissibility.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7519F-87E4-4A21-B342-4E609506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EA927-E6CE-4BA1-8D0D-43E0B26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§12 | CLM-003, CLM-006, CLM-014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40962-CE52-4EED-854E-480BC7F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972243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5EF09-F327-488D-9B98-1DF246F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8E196-FCAF-4F00-9F85-507C5AD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Move from integrated prototype to governed operational pilot through explicit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3FC1B-7EA6-4A67-8829-A27D5674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7E009-CCC0-454B-8906-9079FA69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37913-0B47-455E-B8E7-9E02BA11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81200" cy="2952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BE349-15D9-4599-A5A0-2330092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FA270-5673-4F65-9BD5-9BD000C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Validated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DEFDB-E1CE-4389-8501-1B7E4EA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757A9-9832-4F0D-9FF1-6DBBDEDF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Stored evidence workflow, analysis, exports, integrity, custody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7547D-F0E3-4C6F-9BB0-2207901C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81EA1-AE8E-43B1-9077-C60FE3B0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981200" cy="2952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22636-87B6-4AF0-B77C-558A5BB1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0–30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F783F-96A0-4378-AF2E-48C80E5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Security +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98CE3-72BA-4E37-905D-AF57756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DBECD-9204-4571-890B-D848A68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Secrets, RBAC/RLS, CORS, fault recovery, release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6376E-A8E6-4660-A13B-AACF28D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FE768-5A18-4348-82FA-29FB4EE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14500"/>
            <a:ext cx="1981200" cy="2952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29F7C-D2C9-4E6B-9C86-76D9458B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2405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1–3 MONTHS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52B03-4539-48C6-AF4F-17B601F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Analytical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79D05-282E-454A-ADF9-D360E329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2C530-0FD8-4BD7-994B-DD32A795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76600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Broader corpus, tuned rules, reproducible benchmarks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ADD79-576B-4DDE-A32E-484AC803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41727-5F7F-49AF-8EBD-50C1A99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1981200" cy="2952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78A1F-BDC7-46ED-903A-FDD7111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3–6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59BFD-CD7E-4FCF-AB4F-E66B6B5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Pilot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E398A-1381-4CE1-ABD2-083A1E25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91BAB-22AE-49ED-B224-61E1DC5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Investigator research, usability, scale,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21376-BD24-4877-AE25-18E2B65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726876-B43C-459E-B89D-596A940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1981200" cy="2952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944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8C5F7-AA86-490E-8424-E987A2D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24050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6–12 MONTHS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0D136-AAB2-465A-BA1B-723DDCC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Operational approval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A094A-1F70-4A7C-8704-15EE284F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755B0-3AFA-41C1-A077-04D4150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76600"/>
            <a:ext cx="163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Authority review, SOPs, training, controlled rollout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7A1A9-294C-4FA1-9105-B7E6B48D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434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79744-ADA5-42E2-B0FA-FBDD836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B43"/>
          </a:solidFill>
          <a:ln xmlns:a="http://schemas.openxmlformats.org/drawingml/2006/main" w="9525">
            <a:solidFill>
              <a:srgbClr val="28D7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ED73C8-27D9-4374-9D56-ED068AD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8D7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D7E5"/>
                </a:solidFill>
                <a:latin typeface="Aptos"/>
                <a:ea typeface="Aptos"/>
                <a:cs typeface="Aptos"/>
              </a:rPr>
              <a:t>THE THESIS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7ECF3A-2979-4756-B784-D6D1802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81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3F8"/>
                </a:solidFill>
                <a:latin typeface="Aptos Display"/>
                <a:ea typeface="Aptos Display"/>
                <a:cs typeface="Aptos Display"/>
              </a:rPr>
              <a:t>NETRA does not replace packet tools. It turns their output into a traceable case package that another reviewer can interrogate.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32C09-3FC0-42E4-9E48-34BE10F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EAE55-2ACC-4AE0-9C88-CC2CFD2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6B9"/>
                </a:solidFill>
                <a:latin typeface="Aptos"/>
                <a:ea typeface="Aptos"/>
                <a:cs typeface="Aptos"/>
              </a:rPr>
              <a:t>Source: NETRA Solution Document, §§17-19 | Status remains production-gated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B450D-06F8-4234-B7DA-F288742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695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8DA6B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DA6B9"/>
                </a:solidFill>
                <a:latin typeface="Aptos"/>
                <a:ea typeface="Aptos"/>
                <a:cs typeface="Aptos"/>
              </a:rPr>
              <a:t>NETRA / EVIDENCE-FIRST NETWORK FORENSICS</a:t>
            </a:r>
          </a:p>
        </p:txBody>
      </p:sp>
    </p:spTree>
    <p:extLst>
      <p:ext uri="{BB962C8B-B14F-4D97-AF65-F5344CB8AC3E}">
        <p14:creationId xmlns:p14="http://schemas.microsoft.com/office/powerpoint/2010/main" val="106848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2026-06-18T08:22:37.4080000Z</dcterms:created>
  <dcterms:modified xsi:type="dcterms:W3CDTF">2026-06-18T08:22:37.4080000Z</dcterms:modified>
</coreProperties>
</file>